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313" r:id="rId3"/>
    <p:sldId id="314" r:id="rId4"/>
    <p:sldId id="315" r:id="rId5"/>
    <p:sldId id="317" r:id="rId6"/>
    <p:sldId id="316" r:id="rId7"/>
    <p:sldId id="318" r:id="rId8"/>
    <p:sldId id="319" r:id="rId9"/>
    <p:sldId id="320" r:id="rId10"/>
    <p:sldId id="321" r:id="rId11"/>
  </p:sldIdLst>
  <p:sldSz cx="9144000" cy="6858000" type="screen4x3"/>
  <p:notesSz cx="6648450" cy="97821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돋움" panose="020B0503020000020004" pitchFamily="34" charset="-127"/>
        <a:ea typeface="돋움" panose="020B0503020000020004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04">
          <p15:clr>
            <a:srgbClr val="A4A3A4"/>
          </p15:clr>
        </p15:guide>
        <p15:guide id="2" pos="1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00CC"/>
    <a:srgbClr val="6600FF"/>
    <a:srgbClr val="FFFF00"/>
    <a:srgbClr val="CCFFFF"/>
    <a:srgbClr val="CCECFF"/>
    <a:srgbClr val="000099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5113" autoAdjust="0"/>
    <p:restoredTop sz="90929"/>
  </p:normalViewPr>
  <p:slideViewPr>
    <p:cSldViewPr>
      <p:cViewPr varScale="1">
        <p:scale>
          <a:sx n="55" d="100"/>
          <a:sy n="55" d="100"/>
        </p:scale>
        <p:origin x="422" y="34"/>
      </p:cViewPr>
      <p:guideLst>
        <p:guide orient="horz" pos="1104"/>
        <p:guide pos="19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ADDF8CF-DD56-4B4C-8FB3-34255C23FF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A25FC4B-11D2-4FC8-BE5B-14E2BFCE728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73B9A08F-C016-4D7B-AD7A-8AC36BB9607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4A0BD5BF-A5E5-45E4-8156-7A26DC49059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fld id="{7AB789B7-799D-4444-8244-99B977A0CCE2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7BA1B896-BFF3-4AD4-A4C3-05D0CCC5F1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7D3293D1-8270-46C9-999D-FDD92CF672A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7F9E33C1-DD9A-40BD-9042-9E0AFD27EF4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7888" y="733425"/>
            <a:ext cx="4892675" cy="3668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2E2982EB-48EC-4669-ACA1-055D736D643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5825" y="4646613"/>
            <a:ext cx="4876800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466516DB-D6D4-4783-B59F-0C15FEA4498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돋움" pitchFamily="50" charset="-127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9159" name="Rectangle 7">
            <a:extLst>
              <a:ext uri="{FF2B5EF4-FFF2-40B4-BE49-F238E27FC236}">
                <a16:creationId xmlns:a16="http://schemas.microsoft.com/office/drawing/2014/main" id="{F00C7C1E-3582-41B4-9B87-7ED4CEE23F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fld id="{B59C8138-AA7D-496A-8930-A1C59D499A24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photo.empas.com/empasphoto003/1000324/photo_incview2.tsp?psn=5427&amp;pre=photo_view2.html?psn=5427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3">
            <a:extLst>
              <a:ext uri="{FF2B5EF4-FFF2-40B4-BE49-F238E27FC236}">
                <a16:creationId xmlns:a16="http://schemas.microsoft.com/office/drawing/2014/main" id="{2865D3F3-0535-48CA-929C-41706CE3F5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92088" y="295275"/>
            <a:ext cx="8772525" cy="6202363"/>
          </a:xfrm>
          <a:prstGeom prst="rect">
            <a:avLst/>
          </a:prstGeom>
          <a:solidFill>
            <a:srgbClr val="CCFFFF"/>
          </a:solidFill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D63D7EE0-2376-4F97-92BA-1D2DF31E6F8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9700" y="228600"/>
            <a:ext cx="8882063" cy="63246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돋움" pitchFamily="50" charset="-127"/>
              <a:ea typeface="돋움" pitchFamily="50" charset="-127"/>
            </a:endParaRPr>
          </a:p>
        </p:txBody>
      </p:sp>
      <p:grpSp>
        <p:nvGrpSpPr>
          <p:cNvPr id="5" name="Group 18">
            <a:extLst>
              <a:ext uri="{FF2B5EF4-FFF2-40B4-BE49-F238E27FC236}">
                <a16:creationId xmlns:a16="http://schemas.microsoft.com/office/drawing/2014/main" id="{E94E2C92-D272-489D-8A7A-339FBF561CF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914650" y="1389063"/>
            <a:ext cx="9144000" cy="0"/>
            <a:chOff x="0" y="0"/>
            <a:chExt cx="0" cy="0"/>
          </a:xfrm>
        </p:grpSpPr>
        <p:sp>
          <p:nvSpPr>
            <p:cNvPr id="6" name="Rectangle 17">
              <a:extLst>
                <a:ext uri="{FF2B5EF4-FFF2-40B4-BE49-F238E27FC236}">
                  <a16:creationId xmlns:a16="http://schemas.microsoft.com/office/drawing/2014/main" id="{492DFE37-DF33-485E-9CC3-18245D5348A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0" cy="0"/>
            </a:xfrm>
            <a:prstGeom prst="rect">
              <a:avLst/>
            </a:prstGeom>
            <a:solidFill>
              <a:srgbClr val="F7F7F7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>
                <a:latin typeface="돋움" pitchFamily="50" charset="-127"/>
                <a:ea typeface="돋움" pitchFamily="50" charset="-127"/>
              </a:endParaRPr>
            </a:p>
          </p:txBody>
        </p:sp>
        <p:sp>
          <p:nvSpPr>
            <p:cNvPr id="7" name="Rectangle 16">
              <a:extLst>
                <a:ext uri="{FF2B5EF4-FFF2-40B4-BE49-F238E27FC236}">
                  <a16:creationId xmlns:a16="http://schemas.microsoft.com/office/drawing/2014/main" id="{04E9BEE1-CC95-4DDF-B760-D5853BEB9B5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0"/>
              <a:ext cx="0" cy="0"/>
            </a:xfrm>
            <a:prstGeom prst="rect">
              <a:avLst/>
            </a:prstGeom>
            <a:solidFill>
              <a:srgbClr val="F7F7F7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endParaRPr lang="ko-KR" altLang="en-US">
                <a:latin typeface="돋움" pitchFamily="50" charset="-127"/>
                <a:ea typeface="돋움" pitchFamily="50" charset="-127"/>
              </a:endParaRPr>
            </a:p>
          </p:txBody>
        </p:sp>
      </p:grpSp>
      <p:sp>
        <p:nvSpPr>
          <p:cNvPr id="8" name="Rectangle 19">
            <a:extLst>
              <a:ext uri="{FF2B5EF4-FFF2-40B4-BE49-F238E27FC236}">
                <a16:creationId xmlns:a16="http://schemas.microsoft.com/office/drawing/2014/main" id="{1DFFBFAC-1EDA-4867-8068-651ECA450A9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914650" y="1389063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ko-KR" altLang="en-US"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9" name="Picture 15" descr="연필꽂이-클립아트">
            <a:hlinkClick r:id="rId2"/>
            <a:extLst>
              <a:ext uri="{FF2B5EF4-FFF2-40B4-BE49-F238E27FC236}">
                <a16:creationId xmlns:a16="http://schemas.microsoft.com/office/drawing/2014/main" id="{6935C7C6-699E-4FBD-BD10-F49A7BF0BC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609600"/>
            <a:ext cx="1981200" cy="172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743200"/>
            <a:ext cx="7772400" cy="1143000"/>
          </a:xfrm>
          <a:noFill/>
          <a:ln>
            <a:noFill/>
          </a:ln>
          <a:effectLst/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4372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5972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837530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04800" y="1752600"/>
            <a:ext cx="4191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191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07470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46414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38326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0323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984946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201217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113050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05600" y="381000"/>
            <a:ext cx="2133600" cy="57912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04800" y="381000"/>
            <a:ext cx="6248400" cy="57912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11725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270DE62-999D-41DF-BDF5-17421BBB0D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81000"/>
            <a:ext cx="77724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BF02AA5-8E55-471E-BEA9-F0B484FAE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752600"/>
            <a:ext cx="853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BE3BA4FE-F736-4A45-BC48-AE86153650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534400" y="6426200"/>
            <a:ext cx="4000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eaLnBrk="1" hangingPunct="1"/>
            <a:fld id="{5C0726CC-5A09-4EF6-A1E2-16643AD6136A}" type="slidenum">
              <a:rPr lang="en-US" altLang="ko-KR" sz="1200">
                <a:latin typeface="굴림" panose="020B0503020000020004" pitchFamily="34" charset="-127"/>
                <a:ea typeface="굴림" panose="020B0503020000020004" pitchFamily="34" charset="-127"/>
              </a:rPr>
              <a:pPr eaLnBrk="1" hangingPunct="1"/>
              <a:t>‹#›</a:t>
            </a:fld>
            <a:endParaRPr lang="en-US" altLang="ko-KR" sz="1200">
              <a:latin typeface="굴림" panose="020B0503020000020004" pitchFamily="34" charset="-127"/>
              <a:ea typeface="굴림" panose="020B0503020000020004" pitchFamily="34" charset="-127"/>
            </a:endParaRPr>
          </a:p>
        </p:txBody>
      </p:sp>
      <p:sp>
        <p:nvSpPr>
          <p:cNvPr id="1032" name="Text Box 8">
            <a:extLst>
              <a:ext uri="{FF2B5EF4-FFF2-40B4-BE49-F238E27FC236}">
                <a16:creationId xmlns:a16="http://schemas.microsoft.com/office/drawing/2014/main" id="{64007EDC-A12A-4F83-A06B-92C3A0B0479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396038"/>
            <a:ext cx="2663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i="1">
                <a:latin typeface="돋움" pitchFamily="50" charset="-127"/>
                <a:ea typeface="돋움" pitchFamily="50" charset="-127"/>
              </a:rPr>
              <a:t>1</a:t>
            </a:r>
            <a:r>
              <a:rPr lang="ko-KR" altLang="en-US" sz="1400" i="1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400" i="1">
                <a:latin typeface="돋움" pitchFamily="50" charset="-127"/>
                <a:ea typeface="돋움" pitchFamily="50" charset="-127"/>
              </a:rPr>
              <a:t>. </a:t>
            </a:r>
            <a:r>
              <a:rPr lang="ko-KR" altLang="en-US" sz="1400" i="1">
                <a:latin typeface="돋움" pitchFamily="50" charset="-127"/>
                <a:ea typeface="돋움" pitchFamily="50" charset="-127"/>
              </a:rPr>
              <a:t>관계형 데이터베이스 개요</a:t>
            </a:r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466AD7DC-D907-44F0-8BE0-84E7EFB32D8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4300" y="76200"/>
            <a:ext cx="8882063" cy="63246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6E604380-3070-4C96-BB87-71DF46BC3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688" y="142875"/>
            <a:ext cx="8772525" cy="6202363"/>
          </a:xfrm>
          <a:prstGeom prst="rect">
            <a:avLst/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돋움" pitchFamily="50" charset="-127"/>
              <a:ea typeface="돋움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3000" b="1">
          <a:solidFill>
            <a:schemeClr val="accent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kumimoji="1"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32870DC-A56B-4259-81CF-485F244FEC4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en-US" altLang="ko-KR" sz="3900"/>
              <a:t>1</a:t>
            </a:r>
            <a:r>
              <a:rPr lang="ko-KR" altLang="en-US" sz="3900"/>
              <a:t>장</a:t>
            </a:r>
            <a:r>
              <a:rPr lang="en-US" altLang="ko-KR" sz="3900"/>
              <a:t>. </a:t>
            </a:r>
            <a:r>
              <a:rPr lang="ko-KR" altLang="en-US" sz="3900"/>
              <a:t>관계형 데이터베이스의</a:t>
            </a:r>
            <a:br>
              <a:rPr lang="ko-KR" altLang="en-US" sz="3900"/>
            </a:br>
            <a:r>
              <a:rPr lang="ko-KR" altLang="en-US" sz="3900"/>
              <a:t> 주요 개념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36E3014-2BA2-4DE0-9705-CB78EE9FF534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2819400" y="4267200"/>
            <a:ext cx="3810000" cy="1981200"/>
          </a:xfrm>
          <a:solidFill>
            <a:srgbClr val="CCFFFF"/>
          </a:solidFill>
          <a:ln>
            <a:solidFill>
              <a:schemeClr val="accent2"/>
            </a:solidFill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 marL="0" indent="0" eaLnBrk="1" hangingPunct="1">
              <a:defRPr/>
            </a:pPr>
            <a:r>
              <a:rPr lang="en-US" altLang="ko-KR"/>
              <a:t> </a:t>
            </a:r>
            <a:r>
              <a:rPr lang="ko-KR" altLang="en-US"/>
              <a:t>데이터베이스의 역사</a:t>
            </a:r>
          </a:p>
          <a:p>
            <a:pPr marL="0" indent="0" eaLnBrk="1" hangingPunct="1">
              <a:defRPr/>
            </a:pPr>
            <a:r>
              <a:rPr lang="ko-KR" altLang="en-US"/>
              <a:t> 관계형 데이터베이스 용어</a:t>
            </a:r>
          </a:p>
          <a:p>
            <a:pPr marL="0" indent="0" eaLnBrk="1" hangingPunct="1">
              <a:defRPr/>
            </a:pPr>
            <a:r>
              <a:rPr lang="ko-KR" altLang="en-US"/>
              <a:t> 기본키와 외래키</a:t>
            </a:r>
          </a:p>
          <a:p>
            <a:pPr marL="0" indent="0" eaLnBrk="1" hangingPunct="1">
              <a:defRPr/>
            </a:pPr>
            <a:r>
              <a:rPr lang="ko-KR" altLang="en-US"/>
              <a:t> 뷰</a:t>
            </a:r>
          </a:p>
          <a:p>
            <a:pPr marL="0" indent="0" eaLnBrk="1" hangingPunct="1">
              <a:defRPr/>
            </a:pPr>
            <a:r>
              <a:rPr lang="ko-KR" altLang="en-US"/>
              <a:t> </a:t>
            </a:r>
            <a:r>
              <a:rPr lang="en-US" altLang="ko-KR"/>
              <a:t>SQL </a:t>
            </a:r>
            <a:r>
              <a:rPr lang="ko-KR" altLang="en-US"/>
              <a:t>언어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>
            <a:extLst>
              <a:ext uri="{FF2B5EF4-FFF2-40B4-BE49-F238E27FC236}">
                <a16:creationId xmlns:a16="http://schemas.microsoft.com/office/drawing/2014/main" id="{424C779D-2700-42A9-AB52-8061C0BE3D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6375" y="1400175"/>
            <a:ext cx="0" cy="304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7" name="Line 3">
            <a:extLst>
              <a:ext uri="{FF2B5EF4-FFF2-40B4-BE49-F238E27FC236}">
                <a16:creationId xmlns:a16="http://schemas.microsoft.com/office/drawing/2014/main" id="{97BB5096-0ADB-45F4-9795-C9F5AB890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0625" y="2595563"/>
            <a:ext cx="6350" cy="172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8" name="Line 4">
            <a:extLst>
              <a:ext uri="{FF2B5EF4-FFF2-40B4-BE49-F238E27FC236}">
                <a16:creationId xmlns:a16="http://schemas.microsoft.com/office/drawing/2014/main" id="{CBD642BB-905D-4987-B7AF-B894F21794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19663" y="2533650"/>
            <a:ext cx="4762" cy="2447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9" name="Line 5">
            <a:extLst>
              <a:ext uri="{FF2B5EF4-FFF2-40B4-BE49-F238E27FC236}">
                <a16:creationId xmlns:a16="http://schemas.microsoft.com/office/drawing/2014/main" id="{FE0FCEAD-2E77-4BAC-BD3F-F49C75A936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1863" y="2662238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6262" name="Rectangle 6">
            <a:extLst>
              <a:ext uri="{FF2B5EF4-FFF2-40B4-BE49-F238E27FC236}">
                <a16:creationId xmlns:a16="http://schemas.microsoft.com/office/drawing/2014/main" id="{8A85D563-6D44-4F69-93CB-CC6874208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2162175"/>
            <a:ext cx="1082675" cy="533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엔티티 정의</a:t>
            </a:r>
          </a:p>
          <a:p>
            <a:pPr algn="ctr">
              <a:defRPr/>
            </a:pPr>
            <a:r>
              <a:rPr lang="en-US" altLang="ko-KR" sz="1200">
                <a:latin typeface="돋움" pitchFamily="50" charset="-127"/>
                <a:ea typeface="돋움" pitchFamily="50" charset="-127"/>
              </a:rPr>
              <a:t>(6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6945FA41-9A62-45C1-899D-969C04FC6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2940050"/>
            <a:ext cx="1082675" cy="4476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Arial" panose="020B0604020202020204" pitchFamily="34" charset="0"/>
              </a:rPr>
              <a:t>엔티티 정의</a:t>
            </a:r>
          </a:p>
        </p:txBody>
      </p:sp>
      <p:sp>
        <p:nvSpPr>
          <p:cNvPr id="96264" name="Rectangle 8">
            <a:extLst>
              <a:ext uri="{FF2B5EF4-FFF2-40B4-BE49-F238E27FC236}">
                <a16:creationId xmlns:a16="http://schemas.microsoft.com/office/drawing/2014/main" id="{23DF7F05-3E3E-46DA-AFC5-5802161A8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866775"/>
            <a:ext cx="11430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설계를 위한 </a:t>
            </a:r>
          </a:p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준비</a:t>
            </a:r>
          </a:p>
        </p:txBody>
      </p:sp>
      <p:sp>
        <p:nvSpPr>
          <p:cNvPr id="96265" name="Rectangle 9">
            <a:extLst>
              <a:ext uri="{FF2B5EF4-FFF2-40B4-BE49-F238E27FC236}">
                <a16:creationId xmlns:a16="http://schemas.microsoft.com/office/drawing/2014/main" id="{C5EBDE61-D584-4E90-BF87-B40554018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975" y="866775"/>
            <a:ext cx="11430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업무 분석</a:t>
            </a:r>
          </a:p>
          <a:p>
            <a:pPr algn="ctr">
              <a:defRPr/>
            </a:pPr>
            <a:r>
              <a:rPr lang="en-US" altLang="ko-KR" sz="1200">
                <a:latin typeface="돋움" pitchFamily="50" charset="-127"/>
                <a:ea typeface="돋움" pitchFamily="50" charset="-127"/>
              </a:rPr>
              <a:t>(5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96266" name="Rectangle 10">
            <a:extLst>
              <a:ext uri="{FF2B5EF4-FFF2-40B4-BE49-F238E27FC236}">
                <a16:creationId xmlns:a16="http://schemas.microsoft.com/office/drawing/2014/main" id="{5BE513BD-D096-44F1-8346-06AA2D3F2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5263" y="866775"/>
            <a:ext cx="11430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논리적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DB</a:t>
            </a:r>
          </a:p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설계</a:t>
            </a:r>
          </a:p>
        </p:txBody>
      </p:sp>
      <p:sp>
        <p:nvSpPr>
          <p:cNvPr id="96267" name="Rectangle 11">
            <a:extLst>
              <a:ext uri="{FF2B5EF4-FFF2-40B4-BE49-F238E27FC236}">
                <a16:creationId xmlns:a16="http://schemas.microsoft.com/office/drawing/2014/main" id="{992227BC-7ADE-417F-8D7D-E9150DB26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9263" y="866775"/>
            <a:ext cx="11430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물리적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DB</a:t>
            </a:r>
          </a:p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설계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(11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96268" name="Rectangle 12">
            <a:extLst>
              <a:ext uri="{FF2B5EF4-FFF2-40B4-BE49-F238E27FC236}">
                <a16:creationId xmlns:a16="http://schemas.microsoft.com/office/drawing/2014/main" id="{BF8E7CD1-57D4-459E-9E56-178E69587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3263" y="866775"/>
            <a:ext cx="11430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데이터베이스</a:t>
            </a:r>
          </a:p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구축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(12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6157" name="Line 13">
            <a:extLst>
              <a:ext uri="{FF2B5EF4-FFF2-40B4-BE49-F238E27FC236}">
                <a16:creationId xmlns:a16="http://schemas.microsoft.com/office/drawing/2014/main" id="{9060E331-7921-429B-BF01-C89150212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1688" y="1143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8" name="Line 14">
            <a:extLst>
              <a:ext uri="{FF2B5EF4-FFF2-40B4-BE49-F238E27FC236}">
                <a16:creationId xmlns:a16="http://schemas.microsoft.com/office/drawing/2014/main" id="{E6F3ED8B-77A4-4037-8BED-62C38B1BC0C8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9025" y="1143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9" name="Line 15">
            <a:extLst>
              <a:ext uri="{FF2B5EF4-FFF2-40B4-BE49-F238E27FC236}">
                <a16:creationId xmlns:a16="http://schemas.microsoft.com/office/drawing/2014/main" id="{81038D56-B495-4F26-9767-7B013F0C4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3025" y="11382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0" name="Line 16">
            <a:extLst>
              <a:ext uri="{FF2B5EF4-FFF2-40B4-BE49-F238E27FC236}">
                <a16:creationId xmlns:a16="http://schemas.microsoft.com/office/drawing/2014/main" id="{57221918-2732-4AC5-8E7D-EB3429D94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7025" y="11382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73" name="Rectangle 17">
            <a:extLst>
              <a:ext uri="{FF2B5EF4-FFF2-40B4-BE49-F238E27FC236}">
                <a16:creationId xmlns:a16="http://schemas.microsoft.com/office/drawing/2014/main" id="{1BECA078-47B1-4A22-8989-8DDD45E8F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162175"/>
            <a:ext cx="1143000" cy="533400"/>
          </a:xfrm>
          <a:prstGeom prst="rect">
            <a:avLst/>
          </a:prstGeom>
          <a:solidFill>
            <a:srgbClr val="FFFF00"/>
          </a:solidFill>
          <a:ln w="57150" cmpd="thinThick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데이터베이스</a:t>
            </a:r>
          </a:p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개요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(1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96274" name="Rectangle 18">
            <a:extLst>
              <a:ext uri="{FF2B5EF4-FFF2-40B4-BE49-F238E27FC236}">
                <a16:creationId xmlns:a16="http://schemas.microsoft.com/office/drawing/2014/main" id="{0E498CFE-25CC-4030-9805-7EED8BCF1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909888"/>
            <a:ext cx="1143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시스템구축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&amp;</a:t>
            </a:r>
          </a:p>
          <a:p>
            <a:pPr algn="ctr">
              <a:defRPr/>
            </a:pPr>
            <a:r>
              <a:rPr lang="en-US" altLang="ko-KR" sz="1200">
                <a:latin typeface="돋움" pitchFamily="50" charset="-127"/>
                <a:ea typeface="돋움" pitchFamily="50" charset="-127"/>
              </a:rPr>
              <a:t>DB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설계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(2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96275" name="Rectangle 19">
            <a:extLst>
              <a:ext uri="{FF2B5EF4-FFF2-40B4-BE49-F238E27FC236}">
                <a16:creationId xmlns:a16="http://schemas.microsoft.com/office/drawing/2014/main" id="{1486494B-D961-420E-A5B1-06D11ED18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3652838"/>
            <a:ext cx="1143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altLang="ko-KR" sz="1200">
                <a:latin typeface="돋움" pitchFamily="50" charset="-127"/>
                <a:ea typeface="돋움" pitchFamily="50" charset="-127"/>
              </a:rPr>
              <a:t>DB 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모델링의 </a:t>
            </a:r>
          </a:p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주요 개념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(3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96276" name="Rectangle 20">
            <a:extLst>
              <a:ext uri="{FF2B5EF4-FFF2-40B4-BE49-F238E27FC236}">
                <a16:creationId xmlns:a16="http://schemas.microsoft.com/office/drawing/2014/main" id="{9D5D2AAC-681E-4B59-BA9F-DAABD2208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414838"/>
            <a:ext cx="1143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모델링 도구의</a:t>
            </a:r>
          </a:p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 사용 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(4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96277" name="Rectangle 21">
            <a:extLst>
              <a:ext uri="{FF2B5EF4-FFF2-40B4-BE49-F238E27FC236}">
                <a16:creationId xmlns:a16="http://schemas.microsoft.com/office/drawing/2014/main" id="{B77D87E8-12C8-404D-8A44-46B5E15DA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3863" y="2162175"/>
            <a:ext cx="1266825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0" latinLnBrk="0" hangingPunct="0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식별자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/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관계의 </a:t>
            </a:r>
          </a:p>
          <a:p>
            <a:pPr algn="ctr" eaLnBrk="0" latinLnBrk="0" hangingPunct="0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정의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(7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6166" name="Line 22">
            <a:extLst>
              <a:ext uri="{FF2B5EF4-FFF2-40B4-BE49-F238E27FC236}">
                <a16:creationId xmlns:a16="http://schemas.microsoft.com/office/drawing/2014/main" id="{99ECD2A8-6A76-4FCE-8D67-CC83ED6A17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5263" y="2438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7" name="Line 23">
            <a:extLst>
              <a:ext uri="{FF2B5EF4-FFF2-40B4-BE49-F238E27FC236}">
                <a16:creationId xmlns:a16="http://schemas.microsoft.com/office/drawing/2014/main" id="{749262E3-DADD-46BB-9726-C6F9FDD5D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9263" y="2438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8" name="Rectangle 24">
            <a:extLst>
              <a:ext uri="{FF2B5EF4-FFF2-40B4-BE49-F238E27FC236}">
                <a16:creationId xmlns:a16="http://schemas.microsoft.com/office/drawing/2014/main" id="{C0E96AD8-8737-4E87-A221-F81113A2F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2924175"/>
            <a:ext cx="1266825" cy="442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latinLnBrk="0"/>
            <a:r>
              <a:rPr lang="ko-KR" altLang="en-US" sz="1200">
                <a:latin typeface="Arial" panose="020B0604020202020204" pitchFamily="34" charset="0"/>
              </a:rPr>
              <a:t>주식별자 정의</a:t>
            </a:r>
          </a:p>
        </p:txBody>
      </p:sp>
      <p:sp>
        <p:nvSpPr>
          <p:cNvPr id="6169" name="Rectangle 25">
            <a:extLst>
              <a:ext uri="{FF2B5EF4-FFF2-40B4-BE49-F238E27FC236}">
                <a16:creationId xmlns:a16="http://schemas.microsoft.com/office/drawing/2014/main" id="{FE3964B8-1C85-408B-AC54-60BA099D0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3609975"/>
            <a:ext cx="1266825" cy="442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Arial" panose="020B0604020202020204" pitchFamily="34" charset="0"/>
              </a:rPr>
              <a:t>관계 정의</a:t>
            </a:r>
            <a:endParaRPr lang="ko-KR" altLang="en-US" sz="1200"/>
          </a:p>
        </p:txBody>
      </p:sp>
      <p:sp>
        <p:nvSpPr>
          <p:cNvPr id="6170" name="Rectangle 26">
            <a:extLst>
              <a:ext uri="{FF2B5EF4-FFF2-40B4-BE49-F238E27FC236}">
                <a16:creationId xmlns:a16="http://schemas.microsoft.com/office/drawing/2014/main" id="{6BA0081E-B2A9-402F-A367-B189DB572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4281488"/>
            <a:ext cx="1266825" cy="4429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latinLnBrk="0"/>
            <a:r>
              <a:rPr lang="ko-KR" altLang="en-US" sz="1200">
                <a:latin typeface="Arial" panose="020B0604020202020204" pitchFamily="34" charset="0"/>
              </a:rPr>
              <a:t>외래식별자 정의</a:t>
            </a:r>
          </a:p>
        </p:txBody>
      </p:sp>
      <p:sp>
        <p:nvSpPr>
          <p:cNvPr id="6171" name="Rectangle 27">
            <a:extLst>
              <a:ext uri="{FF2B5EF4-FFF2-40B4-BE49-F238E27FC236}">
                <a16:creationId xmlns:a16="http://schemas.microsoft.com/office/drawing/2014/main" id="{07923C39-5CE5-4B2E-BB61-EC68ECFCE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8150" y="4967288"/>
            <a:ext cx="1266825" cy="4429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latinLnBrk="0"/>
            <a:r>
              <a:rPr lang="ko-KR" altLang="en-US" sz="1200">
                <a:latin typeface="Arial" panose="020B0604020202020204" pitchFamily="34" charset="0"/>
              </a:rPr>
              <a:t>업무규칙정의</a:t>
            </a:r>
          </a:p>
        </p:txBody>
      </p:sp>
      <p:sp>
        <p:nvSpPr>
          <p:cNvPr id="6172" name="Rectangle 28">
            <a:extLst>
              <a:ext uri="{FF2B5EF4-FFF2-40B4-BE49-F238E27FC236}">
                <a16:creationId xmlns:a16="http://schemas.microsoft.com/office/drawing/2014/main" id="{B107A82D-BFAB-42EA-9420-04563A332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913" y="2924175"/>
            <a:ext cx="1081087" cy="442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eaLnBrk="1" latinLnBrk="0" hangingPunct="1"/>
            <a:r>
              <a:rPr lang="ko-KR" altLang="en-US" sz="1200">
                <a:latin typeface="Arial" panose="020B0604020202020204" pitchFamily="34" charset="0"/>
              </a:rPr>
              <a:t>세부속성</a:t>
            </a:r>
          </a:p>
          <a:p>
            <a:pPr algn="ctr" eaLnBrk="1" latinLnBrk="0" hangingPunct="1"/>
            <a:r>
              <a:rPr lang="ko-KR" altLang="en-US" sz="1200">
                <a:latin typeface="Arial" panose="020B0604020202020204" pitchFamily="34" charset="0"/>
              </a:rPr>
              <a:t>확정</a:t>
            </a:r>
          </a:p>
        </p:txBody>
      </p:sp>
      <p:sp>
        <p:nvSpPr>
          <p:cNvPr id="96285" name="Rectangle 29">
            <a:extLst>
              <a:ext uri="{FF2B5EF4-FFF2-40B4-BE49-F238E27FC236}">
                <a16:creationId xmlns:a16="http://schemas.microsoft.com/office/drawing/2014/main" id="{58297F7C-A208-412F-AD5E-E6EFF0500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1038" y="2162175"/>
            <a:ext cx="1082675" cy="533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latinLnBrk="0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상세화</a:t>
            </a:r>
          </a:p>
          <a:p>
            <a:pPr algn="ctr" latinLnBrk="0">
              <a:defRPr/>
            </a:pPr>
            <a:r>
              <a:rPr lang="en-US" altLang="ko-KR" sz="1200">
                <a:latin typeface="돋움" pitchFamily="50" charset="-127"/>
                <a:ea typeface="돋움" pitchFamily="50" charset="-127"/>
              </a:rPr>
              <a:t>(7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96286" name="Rectangle 30">
            <a:extLst>
              <a:ext uri="{FF2B5EF4-FFF2-40B4-BE49-F238E27FC236}">
                <a16:creationId xmlns:a16="http://schemas.microsoft.com/office/drawing/2014/main" id="{8261F2E9-5ACC-4455-A71D-32DAB9125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609975"/>
            <a:ext cx="1081088" cy="442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Arial" pitchFamily="34" charset="0"/>
                <a:ea typeface="돋움" pitchFamily="50" charset="-127"/>
              </a:rPr>
              <a:t>정규화</a:t>
            </a:r>
          </a:p>
          <a:p>
            <a:pPr algn="ctr">
              <a:defRPr/>
            </a:pPr>
            <a:r>
              <a:rPr lang="en-US" altLang="ko-KR" sz="1200">
                <a:latin typeface="Arial" pitchFamily="34" charset="0"/>
                <a:ea typeface="돋움" pitchFamily="50" charset="-127"/>
              </a:rPr>
              <a:t>(8</a:t>
            </a:r>
            <a:r>
              <a:rPr lang="ko-KR" altLang="en-US" sz="1200">
                <a:latin typeface="Arial" pitchFamily="34" charset="0"/>
                <a:ea typeface="돋움" pitchFamily="50" charset="-127"/>
              </a:rPr>
              <a:t>장</a:t>
            </a:r>
            <a:r>
              <a:rPr lang="en-US" altLang="ko-KR" sz="1200">
                <a:latin typeface="Arial" pitchFamily="34" charset="0"/>
                <a:ea typeface="돋움" pitchFamily="50" charset="-127"/>
              </a:rPr>
              <a:t>)</a:t>
            </a:r>
          </a:p>
        </p:txBody>
      </p:sp>
      <p:sp>
        <p:nvSpPr>
          <p:cNvPr id="96287" name="Rectangle 31">
            <a:extLst>
              <a:ext uri="{FF2B5EF4-FFF2-40B4-BE49-F238E27FC236}">
                <a16:creationId xmlns:a16="http://schemas.microsoft.com/office/drawing/2014/main" id="{6FC23EC2-0E7F-4FFE-8F3F-68FD6C1EF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276725"/>
            <a:ext cx="1081088" cy="6286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latinLnBrk="0">
              <a:defRPr/>
            </a:pPr>
            <a:r>
              <a:rPr lang="ko-KR" altLang="en-US" sz="1200">
                <a:latin typeface="Arial" pitchFamily="34" charset="0"/>
                <a:ea typeface="돋움" pitchFamily="50" charset="-127"/>
              </a:rPr>
              <a:t>도메인</a:t>
            </a:r>
            <a:r>
              <a:rPr lang="en-US" altLang="ko-KR" sz="1200">
                <a:latin typeface="Arial" pitchFamily="34" charset="0"/>
                <a:ea typeface="돋움" pitchFamily="50" charset="-127"/>
              </a:rPr>
              <a:t>/</a:t>
            </a:r>
          </a:p>
          <a:p>
            <a:pPr algn="ctr" latinLnBrk="0">
              <a:defRPr/>
            </a:pPr>
            <a:r>
              <a:rPr lang="ko-KR" altLang="en-US" sz="1200">
                <a:latin typeface="Arial" pitchFamily="34" charset="0"/>
                <a:ea typeface="돋움" pitchFamily="50" charset="-127"/>
              </a:rPr>
              <a:t>용어사전 </a:t>
            </a:r>
          </a:p>
          <a:p>
            <a:pPr algn="ctr" latinLnBrk="0">
              <a:defRPr/>
            </a:pPr>
            <a:r>
              <a:rPr lang="ko-KR" altLang="en-US" sz="1200">
                <a:latin typeface="Arial" pitchFamily="34" charset="0"/>
                <a:ea typeface="돋움" pitchFamily="50" charset="-127"/>
              </a:rPr>
              <a:t>정의 </a:t>
            </a:r>
            <a:r>
              <a:rPr lang="en-US" altLang="ko-KR" sz="1200">
                <a:latin typeface="Arial" pitchFamily="34" charset="0"/>
                <a:ea typeface="돋움" pitchFamily="50" charset="-127"/>
              </a:rPr>
              <a:t>(9</a:t>
            </a:r>
            <a:r>
              <a:rPr lang="ko-KR" altLang="en-US" sz="1200">
                <a:latin typeface="Arial" pitchFamily="34" charset="0"/>
                <a:ea typeface="돋움" pitchFamily="50" charset="-127"/>
              </a:rPr>
              <a:t>장</a:t>
            </a:r>
            <a:r>
              <a:rPr lang="en-US" altLang="ko-KR" sz="1200">
                <a:latin typeface="Arial" pitchFamily="34" charset="0"/>
                <a:ea typeface="돋움" pitchFamily="50" charset="-127"/>
              </a:rPr>
              <a:t>)</a:t>
            </a:r>
          </a:p>
        </p:txBody>
      </p:sp>
      <p:sp>
        <p:nvSpPr>
          <p:cNvPr id="6176" name="Line 32">
            <a:extLst>
              <a:ext uri="{FF2B5EF4-FFF2-40B4-BE49-F238E27FC236}">
                <a16:creationId xmlns:a16="http://schemas.microsoft.com/office/drawing/2014/main" id="{A7373CFF-C612-4DDA-B936-577900CF71B7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0950" y="2595563"/>
            <a:ext cx="23813" cy="24272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7" name="Rectangle 33">
            <a:extLst>
              <a:ext uri="{FF2B5EF4-FFF2-40B4-BE49-F238E27FC236}">
                <a16:creationId xmlns:a16="http://schemas.microsoft.com/office/drawing/2014/main" id="{CD6297BE-7A2A-4880-8AB5-457DD78E9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2924175"/>
            <a:ext cx="1081088" cy="442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latinLnBrk="0"/>
            <a:r>
              <a:rPr lang="en-US" altLang="ko-KR" sz="1200">
                <a:latin typeface="Arial" panose="020B0604020202020204" pitchFamily="34" charset="0"/>
              </a:rPr>
              <a:t>ERD </a:t>
            </a:r>
            <a:r>
              <a:rPr lang="ko-KR" altLang="en-US" sz="1200">
                <a:latin typeface="Arial" panose="020B0604020202020204" pitchFamily="34" charset="0"/>
              </a:rPr>
              <a:t>통합</a:t>
            </a:r>
          </a:p>
        </p:txBody>
      </p:sp>
      <p:sp>
        <p:nvSpPr>
          <p:cNvPr id="96290" name="Rectangle 34">
            <a:extLst>
              <a:ext uri="{FF2B5EF4-FFF2-40B4-BE49-F238E27FC236}">
                <a16:creationId xmlns:a16="http://schemas.microsoft.com/office/drawing/2014/main" id="{D3B2FF3A-4F6C-4616-ACEE-60B180427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1363" y="2162175"/>
            <a:ext cx="1082675" cy="5334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200">
                <a:latin typeface="돋움" pitchFamily="50" charset="-127"/>
                <a:ea typeface="돋움" pitchFamily="50" charset="-127"/>
              </a:rPr>
              <a:t>통합및 검증</a:t>
            </a:r>
          </a:p>
          <a:p>
            <a:pPr algn="ctr">
              <a:defRPr/>
            </a:pPr>
            <a:r>
              <a:rPr lang="en-US" altLang="ko-KR" sz="1200">
                <a:latin typeface="돋움" pitchFamily="50" charset="-127"/>
                <a:ea typeface="돋움" pitchFamily="50" charset="-127"/>
              </a:rPr>
              <a:t>(10</a:t>
            </a:r>
            <a:r>
              <a:rPr lang="ko-KR" altLang="en-US" sz="1200">
                <a:latin typeface="돋움" pitchFamily="50" charset="-127"/>
                <a:ea typeface="돋움" pitchFamily="50" charset="-127"/>
              </a:rPr>
              <a:t>장</a:t>
            </a:r>
            <a:r>
              <a:rPr lang="en-US" altLang="ko-KR" sz="1200">
                <a:latin typeface="돋움" pitchFamily="50" charset="-127"/>
                <a:ea typeface="돋움" pitchFamily="50" charset="-127"/>
              </a:rPr>
              <a:t>)</a:t>
            </a:r>
          </a:p>
        </p:txBody>
      </p:sp>
      <p:sp>
        <p:nvSpPr>
          <p:cNvPr id="6179" name="Rectangle 35">
            <a:extLst>
              <a:ext uri="{FF2B5EF4-FFF2-40B4-BE49-F238E27FC236}">
                <a16:creationId xmlns:a16="http://schemas.microsoft.com/office/drawing/2014/main" id="{73351DC0-2503-4D82-A888-1A0CE4222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25" y="3609975"/>
            <a:ext cx="1081088" cy="442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latinLnBrk="0"/>
            <a:r>
              <a:rPr lang="ko-KR" altLang="en-US" sz="1200">
                <a:latin typeface="Arial" panose="020B0604020202020204" pitchFamily="34" charset="0"/>
              </a:rPr>
              <a:t>엔티티 검증</a:t>
            </a:r>
          </a:p>
        </p:txBody>
      </p:sp>
      <p:sp>
        <p:nvSpPr>
          <p:cNvPr id="6180" name="Rectangle 36">
            <a:extLst>
              <a:ext uri="{FF2B5EF4-FFF2-40B4-BE49-F238E27FC236}">
                <a16:creationId xmlns:a16="http://schemas.microsoft.com/office/drawing/2014/main" id="{BBB52952-0515-4B72-81D5-DCB23CA82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188" y="4276725"/>
            <a:ext cx="1081087" cy="44291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latinLnBrk="0"/>
            <a:r>
              <a:rPr lang="ko-KR" altLang="en-US" sz="1200">
                <a:latin typeface="Arial" panose="020B0604020202020204" pitchFamily="34" charset="0"/>
              </a:rPr>
              <a:t>관계 검증</a:t>
            </a:r>
          </a:p>
        </p:txBody>
      </p:sp>
      <p:sp>
        <p:nvSpPr>
          <p:cNvPr id="6181" name="Rectangle 37">
            <a:extLst>
              <a:ext uri="{FF2B5EF4-FFF2-40B4-BE49-F238E27FC236}">
                <a16:creationId xmlns:a16="http://schemas.microsoft.com/office/drawing/2014/main" id="{052AAF25-32B6-42B2-8E04-4D865E6BA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1363" y="4967288"/>
            <a:ext cx="1081087" cy="44291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eaLnBrk="1" hangingPunct="1"/>
            <a:r>
              <a:rPr lang="ko-KR" altLang="en-US" sz="1200">
                <a:latin typeface="Arial" panose="020B0604020202020204" pitchFamily="34" charset="0"/>
              </a:rPr>
              <a:t>속성 검증</a:t>
            </a:r>
          </a:p>
        </p:txBody>
      </p:sp>
      <p:sp>
        <p:nvSpPr>
          <p:cNvPr id="6182" name="Line 38">
            <a:extLst>
              <a:ext uri="{FF2B5EF4-FFF2-40B4-BE49-F238E27FC236}">
                <a16:creationId xmlns:a16="http://schemas.microsoft.com/office/drawing/2014/main" id="{AB9D7E94-30A7-4BFC-B177-78305D041B6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3238" y="243840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3" name="Line 39">
            <a:extLst>
              <a:ext uri="{FF2B5EF4-FFF2-40B4-BE49-F238E27FC236}">
                <a16:creationId xmlns:a16="http://schemas.microsoft.com/office/drawing/2014/main" id="{30801433-7C7C-490F-A58A-1B9665C40B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95600" y="1400175"/>
            <a:ext cx="1143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4" name="Line 40">
            <a:extLst>
              <a:ext uri="{FF2B5EF4-FFF2-40B4-BE49-F238E27FC236}">
                <a16:creationId xmlns:a16="http://schemas.microsoft.com/office/drawing/2014/main" id="{11D6EEB1-D6AE-4296-980F-4C183B06DB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7313" y="1400175"/>
            <a:ext cx="2986087" cy="747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5" name="AutoShape 41">
            <a:extLst>
              <a:ext uri="{FF2B5EF4-FFF2-40B4-BE49-F238E27FC236}">
                <a16:creationId xmlns:a16="http://schemas.microsoft.com/office/drawing/2014/main" id="{A1DE47B2-71BE-4AE0-A914-A8BB25AC9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425" y="2190750"/>
            <a:ext cx="152400" cy="228600"/>
          </a:xfrm>
          <a:prstGeom prst="homePlate">
            <a:avLst>
              <a:gd name="adj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eaLnBrk="1" hangingPunct="1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683B591-C57A-4BAD-A062-4C12D01CA8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09759A12-BD24-45D1-A90E-C5A1A1CA83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  <a:p>
            <a:pPr lvl="1" eaLnBrk="1" hangingPunct="1"/>
            <a:r>
              <a:rPr lang="ko-KR" altLang="en-US"/>
              <a:t>컴퓨터 발전의 역사 </a:t>
            </a:r>
            <a:r>
              <a:rPr lang="ko-KR" altLang="en-US">
                <a:sym typeface="Symbol" panose="05050102010706020507" pitchFamily="18" charset="2"/>
              </a:rPr>
              <a:t> </a:t>
            </a:r>
            <a:r>
              <a:rPr lang="ko-KR" altLang="en-US"/>
              <a:t>데이터 처리의 발전사</a:t>
            </a:r>
          </a:p>
          <a:p>
            <a:pPr lvl="1" eaLnBrk="1" hangingPunct="1"/>
            <a:r>
              <a:rPr lang="en-US" altLang="ko-KR"/>
              <a:t>EDPS (Electronic Data Processing System)</a:t>
            </a:r>
          </a:p>
          <a:p>
            <a:pPr lvl="2" eaLnBrk="1" hangingPunct="1"/>
            <a:r>
              <a:rPr lang="ko-KR" altLang="en-US"/>
              <a:t>컴퓨터와 데이터 처리의 밀접한 관계를 보여줌</a:t>
            </a:r>
          </a:p>
          <a:p>
            <a:pPr lvl="1" eaLnBrk="1" hangingPunct="1"/>
            <a:r>
              <a:rPr lang="ko-KR" altLang="en-US"/>
              <a:t>제 </a:t>
            </a:r>
            <a:r>
              <a:rPr lang="en-US" altLang="ko-KR"/>
              <a:t>1</a:t>
            </a:r>
            <a:r>
              <a:rPr lang="ko-KR" altLang="en-US"/>
              <a:t>세대 컴퓨터 시스템</a:t>
            </a:r>
          </a:p>
          <a:p>
            <a:pPr lvl="2" eaLnBrk="1" hangingPunct="1"/>
            <a:r>
              <a:rPr lang="ko-KR" altLang="en-US"/>
              <a:t>소프트웨어나 저장장치 등의 개발이 부족</a:t>
            </a:r>
          </a:p>
          <a:p>
            <a:pPr lvl="2" eaLnBrk="1" hangingPunct="1"/>
            <a:r>
              <a:rPr lang="ko-KR" altLang="en-US"/>
              <a:t>주로 기술 분야의 계산</a:t>
            </a:r>
            <a:r>
              <a:rPr lang="en-US" altLang="ko-KR"/>
              <a:t>, </a:t>
            </a:r>
            <a:r>
              <a:rPr lang="ko-KR" altLang="en-US"/>
              <a:t>자료 분류 등에 사용 </a:t>
            </a:r>
          </a:p>
          <a:p>
            <a:pPr lvl="1" eaLnBrk="1" hangingPunct="1"/>
            <a:r>
              <a:rPr lang="ko-KR" altLang="en-US"/>
              <a:t>제 </a:t>
            </a:r>
            <a:r>
              <a:rPr lang="en-US" altLang="ko-KR"/>
              <a:t>2</a:t>
            </a:r>
            <a:r>
              <a:rPr lang="ko-KR" altLang="en-US"/>
              <a:t>세대 컴퓨터 시스템</a:t>
            </a:r>
          </a:p>
          <a:p>
            <a:pPr lvl="2" eaLnBrk="1" hangingPunct="1"/>
            <a:r>
              <a:rPr lang="ko-KR" altLang="en-US"/>
              <a:t>운영체제가 도입되고 </a:t>
            </a:r>
            <a:r>
              <a:rPr lang="en-US" altLang="ko-KR"/>
              <a:t>FORTRAN, COBOL </a:t>
            </a:r>
            <a:r>
              <a:rPr lang="ko-KR" altLang="en-US"/>
              <a:t>등의 고급 언어 개발</a:t>
            </a:r>
          </a:p>
          <a:p>
            <a:pPr lvl="2" eaLnBrk="1" hangingPunct="1"/>
            <a:r>
              <a:rPr lang="ko-KR" altLang="en-US"/>
              <a:t> 파일 시스템</a:t>
            </a:r>
            <a:r>
              <a:rPr lang="en-US" altLang="ko-KR"/>
              <a:t>(file system)</a:t>
            </a:r>
            <a:r>
              <a:rPr lang="ko-KR" altLang="en-US"/>
              <a:t>의 도입</a:t>
            </a:r>
          </a:p>
          <a:p>
            <a:pPr lvl="2" eaLnBrk="1" hangingPunct="1"/>
            <a:r>
              <a:rPr lang="ko-KR" altLang="en-US"/>
              <a:t>자료를 분석하고 처리하는 일에 본격적으로 사용되기 시작</a:t>
            </a:r>
            <a:r>
              <a:rPr lang="ko-KR" altLang="en-US" b="0"/>
              <a:t> </a:t>
            </a:r>
          </a:p>
          <a:p>
            <a:pPr lvl="2" eaLnBrk="1" hangingPunct="1"/>
            <a:endParaRPr lang="ko-KR" altLang="en-US" b="0"/>
          </a:p>
          <a:p>
            <a:pPr lvl="2" eaLnBrk="1" hangingPunct="1"/>
            <a:endParaRPr lang="en-US" altLang="ko-KR"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F65EDA93-3174-4FA2-AAC0-4940528E0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E3C26DE-C009-41CE-AE9C-65F3CE3F0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F482841C-8931-4CA7-B7A2-31D1DB0E5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7432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eaLnBrk="1" hangingPunct="1"/>
            <a:r>
              <a:rPr lang="ko-KR" altLang="en-US" sz="1400">
                <a:latin typeface="Times New Roman" panose="02020603050405020304" pitchFamily="18" charset="0"/>
                <a:ea typeface="굴림" panose="020B0503020000020004" pitchFamily="34" charset="-127"/>
              </a:rPr>
              <a:t>응용 프로그램</a:t>
            </a: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AC2EA98-5F9E-4DC0-98B9-8A1ACAA01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7432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eaLnBrk="1" hangingPunct="1"/>
            <a:r>
              <a:rPr lang="ko-KR" altLang="en-US" sz="1400">
                <a:latin typeface="Times New Roman" panose="02020603050405020304" pitchFamily="18" charset="0"/>
                <a:ea typeface="굴림" panose="020B0503020000020004" pitchFamily="34" charset="-127"/>
              </a:rPr>
              <a:t>응용 프로그램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2A02B58E-8CF9-44DB-9422-EBA39009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743200"/>
            <a:ext cx="1295400" cy="30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503020000020004" pitchFamily="34" charset="-127"/>
                <a:ea typeface="돋움" panose="020B0503020000020004" pitchFamily="34" charset="-127"/>
              </a:defRPr>
            </a:lvl9pPr>
          </a:lstStyle>
          <a:p>
            <a:pPr algn="ctr" eaLnBrk="1" hangingPunct="1"/>
            <a:r>
              <a:rPr lang="ko-KR" altLang="en-US" sz="1400">
                <a:latin typeface="Times New Roman" panose="02020603050405020304" pitchFamily="18" charset="0"/>
                <a:ea typeface="굴림" panose="020B0503020000020004" pitchFamily="34" charset="-127"/>
              </a:rPr>
              <a:t>응용 프로그램</a:t>
            </a:r>
          </a:p>
        </p:txBody>
      </p:sp>
      <p:sp>
        <p:nvSpPr>
          <p:cNvPr id="8199" name="AutoShape 7">
            <a:extLst>
              <a:ext uri="{FF2B5EF4-FFF2-40B4-BE49-F238E27FC236}">
                <a16:creationId xmlns:a16="http://schemas.microsoft.com/office/drawing/2014/main" id="{1F8E1D04-785F-4D3D-901C-EF6536F1F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505200"/>
            <a:ext cx="1600200" cy="304800"/>
          </a:xfrm>
          <a:prstGeom prst="flowChartPredefined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ko-KR" altLang="en-US" sz="1400">
                <a:latin typeface="Times New Roman" panose="02020603050405020304" pitchFamily="18" charset="0"/>
                <a:ea typeface="굴림" panose="020B0503020000020004" pitchFamily="34" charset="-127"/>
              </a:rPr>
              <a:t>운영체제</a:t>
            </a:r>
          </a:p>
        </p:txBody>
      </p:sp>
      <p:sp>
        <p:nvSpPr>
          <p:cNvPr id="8200" name="AutoShape 8">
            <a:extLst>
              <a:ext uri="{FF2B5EF4-FFF2-40B4-BE49-F238E27FC236}">
                <a16:creationId xmlns:a16="http://schemas.microsoft.com/office/drawing/2014/main" id="{22FA9FA0-E6B5-4C9E-903A-A4E5882BF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343400"/>
            <a:ext cx="762000" cy="457200"/>
          </a:xfrm>
          <a:prstGeom prst="flowChartMagneticDisk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600">
                <a:latin typeface="Times New Roman" panose="02020603050405020304" pitchFamily="18" charset="0"/>
                <a:ea typeface="굴림" panose="020B0503020000020004" pitchFamily="34" charset="-127"/>
              </a:rPr>
              <a:t>File</a:t>
            </a:r>
          </a:p>
        </p:txBody>
      </p:sp>
      <p:sp>
        <p:nvSpPr>
          <p:cNvPr id="8201" name="AutoShape 9">
            <a:extLst>
              <a:ext uri="{FF2B5EF4-FFF2-40B4-BE49-F238E27FC236}">
                <a16:creationId xmlns:a16="http://schemas.microsoft.com/office/drawing/2014/main" id="{352459E6-E919-4DF7-8315-278E03E38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343400"/>
            <a:ext cx="762000" cy="457200"/>
          </a:xfrm>
          <a:prstGeom prst="flowChartMagneticDisk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600">
                <a:latin typeface="Times New Roman" panose="02020603050405020304" pitchFamily="18" charset="0"/>
                <a:ea typeface="굴림" panose="020B0503020000020004" pitchFamily="34" charset="-127"/>
              </a:rPr>
              <a:t>File</a:t>
            </a:r>
          </a:p>
        </p:txBody>
      </p:sp>
      <p:sp>
        <p:nvSpPr>
          <p:cNvPr id="8202" name="AutoShape 10">
            <a:extLst>
              <a:ext uri="{FF2B5EF4-FFF2-40B4-BE49-F238E27FC236}">
                <a16:creationId xmlns:a16="http://schemas.microsoft.com/office/drawing/2014/main" id="{FD4EA8DB-B9C0-4D0D-B1A3-B675D57C3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4343400"/>
            <a:ext cx="762000" cy="457200"/>
          </a:xfrm>
          <a:prstGeom prst="flowChartMagneticDisk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algn="ctr" eaLnBrk="1" hangingPunct="1"/>
            <a:r>
              <a:rPr lang="en-US" altLang="ko-KR" sz="1600">
                <a:latin typeface="Times New Roman" panose="02020603050405020304" pitchFamily="18" charset="0"/>
                <a:ea typeface="굴림" panose="020B0503020000020004" pitchFamily="34" charset="-127"/>
              </a:rPr>
              <a:t>File</a:t>
            </a:r>
          </a:p>
        </p:txBody>
      </p:sp>
      <p:sp>
        <p:nvSpPr>
          <p:cNvPr id="8203" name="Freeform 11">
            <a:extLst>
              <a:ext uri="{FF2B5EF4-FFF2-40B4-BE49-F238E27FC236}">
                <a16:creationId xmlns:a16="http://schemas.microsoft.com/office/drawing/2014/main" id="{945A60C6-74AA-4216-BE5E-6AA4B0579B18}"/>
              </a:ext>
            </a:extLst>
          </p:cNvPr>
          <p:cNvSpPr>
            <a:spLocks/>
          </p:cNvSpPr>
          <p:nvPr/>
        </p:nvSpPr>
        <p:spPr bwMode="auto">
          <a:xfrm>
            <a:off x="2895600" y="3048000"/>
            <a:ext cx="2971800" cy="228600"/>
          </a:xfrm>
          <a:custGeom>
            <a:avLst/>
            <a:gdLst>
              <a:gd name="T0" fmla="*/ 0 w 1872"/>
              <a:gd name="T1" fmla="*/ 0 h 144"/>
              <a:gd name="T2" fmla="*/ 0 w 1872"/>
              <a:gd name="T3" fmla="*/ 362902445 h 144"/>
              <a:gd name="T4" fmla="*/ 2147483647 w 1872"/>
              <a:gd name="T5" fmla="*/ 362902445 h 144"/>
              <a:gd name="T6" fmla="*/ 2147483647 w 1872"/>
              <a:gd name="T7" fmla="*/ 0 h 144"/>
              <a:gd name="T8" fmla="*/ 0 60000 65536"/>
              <a:gd name="T9" fmla="*/ 0 60000 65536"/>
              <a:gd name="T10" fmla="*/ 0 60000 65536"/>
              <a:gd name="T11" fmla="*/ 0 60000 65536"/>
              <a:gd name="T12" fmla="*/ 0 w 1872"/>
              <a:gd name="T13" fmla="*/ 0 h 144"/>
              <a:gd name="T14" fmla="*/ 1872 w 1872"/>
              <a:gd name="T15" fmla="*/ 144 h 1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72" h="144">
                <a:moveTo>
                  <a:pt x="0" y="0"/>
                </a:moveTo>
                <a:lnTo>
                  <a:pt x="0" y="144"/>
                </a:lnTo>
                <a:lnTo>
                  <a:pt x="1872" y="144"/>
                </a:lnTo>
                <a:lnTo>
                  <a:pt x="1872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4" name="Freeform 12">
            <a:extLst>
              <a:ext uri="{FF2B5EF4-FFF2-40B4-BE49-F238E27FC236}">
                <a16:creationId xmlns:a16="http://schemas.microsoft.com/office/drawing/2014/main" id="{241319B9-A454-4C6F-919F-868481C58BD1}"/>
              </a:ext>
            </a:extLst>
          </p:cNvPr>
          <p:cNvSpPr>
            <a:spLocks/>
          </p:cNvSpPr>
          <p:nvPr/>
        </p:nvSpPr>
        <p:spPr bwMode="auto">
          <a:xfrm>
            <a:off x="2590800" y="4114800"/>
            <a:ext cx="3429000" cy="228600"/>
          </a:xfrm>
          <a:custGeom>
            <a:avLst/>
            <a:gdLst>
              <a:gd name="T0" fmla="*/ 0 w 2160"/>
              <a:gd name="T1" fmla="*/ 544353726 h 96"/>
              <a:gd name="T2" fmla="*/ 0 w 2160"/>
              <a:gd name="T3" fmla="*/ 0 h 96"/>
              <a:gd name="T4" fmla="*/ 2147483647 w 2160"/>
              <a:gd name="T5" fmla="*/ 0 h 96"/>
              <a:gd name="T6" fmla="*/ 2147483647 w 2160"/>
              <a:gd name="T7" fmla="*/ 544353726 h 96"/>
              <a:gd name="T8" fmla="*/ 0 60000 65536"/>
              <a:gd name="T9" fmla="*/ 0 60000 65536"/>
              <a:gd name="T10" fmla="*/ 0 60000 65536"/>
              <a:gd name="T11" fmla="*/ 0 60000 65536"/>
              <a:gd name="T12" fmla="*/ 0 w 2160"/>
              <a:gd name="T13" fmla="*/ 0 h 96"/>
              <a:gd name="T14" fmla="*/ 2160 w 2160"/>
              <a:gd name="T15" fmla="*/ 96 h 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" h="96">
                <a:moveTo>
                  <a:pt x="0" y="96"/>
                </a:moveTo>
                <a:lnTo>
                  <a:pt x="0" y="0"/>
                </a:lnTo>
                <a:lnTo>
                  <a:pt x="2160" y="0"/>
                </a:lnTo>
                <a:lnTo>
                  <a:pt x="2160" y="9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5" name="Line 13">
            <a:extLst>
              <a:ext uri="{FF2B5EF4-FFF2-40B4-BE49-F238E27FC236}">
                <a16:creationId xmlns:a16="http://schemas.microsoft.com/office/drawing/2014/main" id="{71AD5E8D-6A00-49BA-8468-C04C557F62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810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6" name="Line 14">
            <a:extLst>
              <a:ext uri="{FF2B5EF4-FFF2-40B4-BE49-F238E27FC236}">
                <a16:creationId xmlns:a16="http://schemas.microsoft.com/office/drawing/2014/main" id="{AFB38EEC-4869-4218-83F1-AE0AD3216C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048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7" name="Text Box 15">
            <a:extLst>
              <a:ext uri="{FF2B5EF4-FFF2-40B4-BE49-F238E27FC236}">
                <a16:creationId xmlns:a16="http://schemas.microsoft.com/office/drawing/2014/main" id="{B4982764-DE57-433D-9FCC-2598FBFA36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5029200"/>
            <a:ext cx="3992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그림 </a:t>
            </a:r>
            <a:r>
              <a:rPr lang="en-US" altLang="ko-KR" sz="1400" b="1"/>
              <a:t>1.1&gt; </a:t>
            </a:r>
            <a:r>
              <a:rPr lang="ko-KR" altLang="en-US" sz="1400" b="1"/>
              <a:t>파일 시스템에 기초한 자료처리 모델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15716A9A-9237-4723-A663-095A10F52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9691D8E-8306-4991-9CA4-303C93DB3E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  <a:p>
            <a:pPr lvl="1" eaLnBrk="1" hangingPunct="1">
              <a:buFont typeface="Wingdings" panose="05000000000000000000" pitchFamily="2" charset="2"/>
              <a:buChar char="Ø"/>
            </a:pPr>
            <a:r>
              <a:rPr lang="ko-KR" altLang="en-US"/>
              <a:t>파일 시스템의 문제점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종속성</a:t>
            </a:r>
            <a:r>
              <a:rPr lang="en-US" altLang="ko-KR">
                <a:solidFill>
                  <a:srgbClr val="000099"/>
                </a:solidFill>
              </a:rPr>
              <a:t>(data dependency) </a:t>
            </a:r>
          </a:p>
          <a:p>
            <a:pPr lvl="3" eaLnBrk="1" hangingPunct="1"/>
            <a:r>
              <a:rPr lang="ko-KR" altLang="en-US"/>
              <a:t>데이터를 사용하는 프로그램의 구조가 데이터 구조</a:t>
            </a:r>
            <a:r>
              <a:rPr lang="en-US" altLang="ko-KR"/>
              <a:t>(</a:t>
            </a:r>
            <a:r>
              <a:rPr lang="ko-KR" altLang="en-US"/>
              <a:t>파일 구조</a:t>
            </a:r>
            <a:r>
              <a:rPr lang="en-US" altLang="ko-KR"/>
              <a:t>)</a:t>
            </a:r>
            <a:r>
              <a:rPr lang="ko-KR" altLang="en-US"/>
              <a:t>의 영향을 받는다는 것을 의미</a:t>
            </a:r>
          </a:p>
          <a:p>
            <a:pPr lvl="3" eaLnBrk="1" hangingPunct="1"/>
            <a:r>
              <a:rPr lang="ko-KR" altLang="en-US"/>
              <a:t>데이터 종속성은 프로그램의 개발과 유지 보수를 어렵게 함</a:t>
            </a:r>
          </a:p>
          <a:p>
            <a:pPr eaLnBrk="1" hangingPunct="1"/>
            <a:endParaRPr lang="en-US" altLang="ko-KR" sz="16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C11FCEC6-E9D5-42AB-8676-D755EC7786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FC3EE6D-D79C-4D4E-A363-6AEBB835E6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  <a:p>
            <a:pPr lvl="2" eaLnBrk="1" hangingPunct="1"/>
            <a:endParaRPr lang="en-US" altLang="ko-KR"/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5759856B-32C8-4E1C-8C28-1DE1743F4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62200"/>
            <a:ext cx="3581400" cy="167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ko-KR" altLang="en-US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응용 프로그램</a:t>
            </a:r>
          </a:p>
          <a:p>
            <a:pPr eaLnBrk="1" hangingPunct="1"/>
            <a:endParaRPr lang="ko-KR" altLang="en-US" sz="1200">
              <a:solidFill>
                <a:srgbClr val="000000"/>
              </a:solidFill>
              <a:latin typeface="굴림" panose="020B0503020000020004" pitchFamily="34" charset="-127"/>
              <a:ea typeface="굴림" panose="020B0503020000020004" pitchFamily="34" charset="-127"/>
            </a:endParaRPr>
          </a:p>
          <a:p>
            <a:pPr eaLnBrk="1" hangingPunct="1"/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01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STUDENT-TBL.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                                       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</a:t>
            </a:r>
          </a:p>
          <a:p>
            <a:pPr eaLnBrk="1" hangingPunct="1"/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03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STUDENT-RECORD.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      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</a:t>
            </a:r>
          </a:p>
          <a:p>
            <a:pPr eaLnBrk="1" hangingPunct="1"/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    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05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S-ID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             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PIC X(05).</a:t>
            </a:r>
          </a:p>
          <a:p>
            <a:pPr eaLnBrk="1" hangingPunct="1"/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          05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S-NAME                 PIC X(20).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         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</a:t>
            </a:r>
          </a:p>
          <a:p>
            <a:pPr eaLnBrk="1" hangingPunct="1"/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    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05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S-TEL-NO        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  <a:ea typeface="굴림" panose="020B0503020000020004" pitchFamily="34" charset="-127"/>
              </a:rPr>
              <a:t>     </a:t>
            </a:r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PIC X(12).</a:t>
            </a:r>
          </a:p>
          <a:p>
            <a:pPr eaLnBrk="1" hangingPunct="1"/>
            <a:r>
              <a:rPr lang="en-US" altLang="ko-KR" sz="1200">
                <a:solidFill>
                  <a:srgbClr val="000000"/>
                </a:solidFill>
                <a:latin typeface="굴림" panose="020B0503020000020004" pitchFamily="34" charset="-127"/>
                <a:ea typeface="굴림" panose="020B0503020000020004" pitchFamily="34" charset="-127"/>
              </a:rPr>
              <a:t>           05 S-AGE                   PIC 9(02).</a:t>
            </a:r>
          </a:p>
        </p:txBody>
      </p:sp>
      <p:sp>
        <p:nvSpPr>
          <p:cNvPr id="10245" name="Line 5">
            <a:extLst>
              <a:ext uri="{FF2B5EF4-FFF2-40B4-BE49-F238E27FC236}">
                <a16:creationId xmlns:a16="http://schemas.microsoft.com/office/drawing/2014/main" id="{8D2BA641-33F2-4DBD-B464-048899A50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743200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99334" name="Group 6">
            <a:extLst>
              <a:ext uri="{FF2B5EF4-FFF2-40B4-BE49-F238E27FC236}">
                <a16:creationId xmlns:a16="http://schemas.microsoft.com/office/drawing/2014/main" id="{112F3705-CF43-4EA0-8707-A2B762F79D67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2362200"/>
          <a:ext cx="3124200" cy="17526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학생정보 파일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98001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김철수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98002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홍길동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98003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이민수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98004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이해용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98005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강남석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98006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박병길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0212345613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0114341212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0415742512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0311231234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0192325672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0101232131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256" name="AutoShape 18">
            <a:extLst>
              <a:ext uri="{FF2B5EF4-FFF2-40B4-BE49-F238E27FC236}">
                <a16:creationId xmlns:a16="http://schemas.microsoft.com/office/drawing/2014/main" id="{214B4AC9-1ED9-4F90-B33D-3F7B315E8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200400"/>
            <a:ext cx="609600" cy="228600"/>
          </a:xfrm>
          <a:prstGeom prst="leftRightArrow">
            <a:avLst>
              <a:gd name="adj1" fmla="val 50000"/>
              <a:gd name="adj2" fmla="val 53333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57" name="Rectangle 19">
            <a:extLst>
              <a:ext uri="{FF2B5EF4-FFF2-40B4-BE49-F238E27FC236}">
                <a16:creationId xmlns:a16="http://schemas.microsoft.com/office/drawing/2014/main" id="{984445DF-E5A2-485A-96A4-7D45C5DAD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0563" y="4244975"/>
            <a:ext cx="45926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/>
              <a:t>&lt;</a:t>
            </a:r>
            <a:r>
              <a:rPr lang="ko-KR" altLang="en-US" sz="1400" b="1"/>
              <a:t>그림 </a:t>
            </a:r>
            <a:r>
              <a:rPr lang="en-US" altLang="ko-KR" sz="1400" b="1"/>
              <a:t>1.2&gt; </a:t>
            </a:r>
            <a:r>
              <a:rPr lang="ko-KR" altLang="en-US" sz="1400" b="1"/>
              <a:t>학생정보를 읽어 처리하는 </a:t>
            </a:r>
            <a:r>
              <a:rPr lang="en-US" altLang="ko-KR" sz="1400" b="1"/>
              <a:t>COBOL </a:t>
            </a:r>
            <a:r>
              <a:rPr lang="ko-KR" altLang="en-US" sz="1400" b="1"/>
              <a:t>프로그램</a:t>
            </a:r>
          </a:p>
        </p:txBody>
      </p:sp>
      <p:sp>
        <p:nvSpPr>
          <p:cNvPr id="10258" name="Text Box 20">
            <a:extLst>
              <a:ext uri="{FF2B5EF4-FFF2-40B4-BE49-F238E27FC236}">
                <a16:creationId xmlns:a16="http://schemas.microsoft.com/office/drawing/2014/main" id="{82E33713-379D-46A3-AA3A-FE55A56EEB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051425"/>
            <a:ext cx="723900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5pPr>
            <a:lvl6pPr marL="25146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6pPr>
            <a:lvl7pPr marL="29718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7pPr>
            <a:lvl8pPr marL="34290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8pPr>
            <a:lvl9pPr marL="3886200" indent="-228600" eaLnBrk="0" fontAlgn="base" latinLnBrk="1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돋움" panose="020B0600000101010101" pitchFamily="34" charset="-127"/>
                <a:ea typeface="돋움" panose="020B0600000101010101" pitchFamily="34" charset="-127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ü"/>
            </a:pPr>
            <a:r>
              <a:rPr lang="en-US" altLang="ko-KR" sz="1800" b="1">
                <a:solidFill>
                  <a:srgbClr val="6600CC"/>
                </a:solidFill>
              </a:rPr>
              <a:t> </a:t>
            </a:r>
            <a:r>
              <a:rPr lang="ko-KR" altLang="en-US" sz="1800" b="1">
                <a:solidFill>
                  <a:srgbClr val="6600CC"/>
                </a:solidFill>
              </a:rPr>
              <a:t>학생의 이름을 저장하는 필드의 길이를 현재 </a:t>
            </a:r>
            <a:r>
              <a:rPr lang="en-US" altLang="ko-KR" sz="1800" b="1">
                <a:solidFill>
                  <a:srgbClr val="6600CC"/>
                </a:solidFill>
              </a:rPr>
              <a:t>20</a:t>
            </a:r>
            <a:r>
              <a:rPr lang="ko-KR" altLang="en-US" sz="1800" b="1">
                <a:solidFill>
                  <a:srgbClr val="6600CC"/>
                </a:solidFill>
              </a:rPr>
              <a:t>자리에서 </a:t>
            </a:r>
            <a:r>
              <a:rPr lang="en-US" altLang="ko-KR" sz="1800" b="1">
                <a:solidFill>
                  <a:srgbClr val="6600CC"/>
                </a:solidFill>
              </a:rPr>
              <a:t>30</a:t>
            </a:r>
            <a:r>
              <a:rPr lang="ko-KR" altLang="en-US" sz="1800" b="1">
                <a:solidFill>
                  <a:srgbClr val="6600CC"/>
                </a:solidFill>
              </a:rPr>
              <a:t>자리로 늘려야 하는 경우</a:t>
            </a:r>
          </a:p>
          <a:p>
            <a:pPr eaLnBrk="1" hangingPunct="1">
              <a:buFont typeface="Wingdings" panose="05000000000000000000" pitchFamily="2" charset="2"/>
              <a:buChar char="ü"/>
            </a:pPr>
            <a:r>
              <a:rPr lang="ko-KR" altLang="en-US" sz="1800" b="1">
                <a:solidFill>
                  <a:srgbClr val="6600CC"/>
                </a:solidFill>
              </a:rPr>
              <a:t> 학생정보 파일에서 필드의 순서를 바꾸어 저장하고자 하는 경우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B41101AB-2508-4B37-8FB1-B94503145C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DA96F0F-9537-4581-A857-5EF9E3A91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무결성</a:t>
            </a:r>
            <a:r>
              <a:rPr lang="en-US" altLang="ko-KR">
                <a:solidFill>
                  <a:srgbClr val="000099"/>
                </a:solidFill>
              </a:rPr>
              <a:t>(data integrity)</a:t>
            </a:r>
            <a:r>
              <a:rPr lang="ko-KR" altLang="en-US">
                <a:solidFill>
                  <a:srgbClr val="000099"/>
                </a:solidFill>
              </a:rPr>
              <a:t>의 침해</a:t>
            </a:r>
          </a:p>
          <a:p>
            <a:pPr lvl="3" eaLnBrk="1" hangingPunct="1"/>
            <a:r>
              <a:rPr lang="ko-KR" altLang="en-US"/>
              <a:t>데이터 무결성이란 저장된 데이터의 내용이 본래 의도했던 데이터의 형식</a:t>
            </a:r>
            <a:r>
              <a:rPr lang="en-US" altLang="ko-KR"/>
              <a:t>, </a:t>
            </a:r>
            <a:r>
              <a:rPr lang="ko-KR" altLang="en-US"/>
              <a:t>범위를 준수해야 한다는 성질</a:t>
            </a:r>
          </a:p>
          <a:p>
            <a:pPr lvl="3" eaLnBrk="1" hangingPunct="1"/>
            <a:r>
              <a:rPr lang="en-US" altLang="ko-KR"/>
              <a:t>&lt;</a:t>
            </a:r>
            <a:r>
              <a:rPr lang="ko-KR" altLang="en-US"/>
              <a:t>그림 </a:t>
            </a:r>
            <a:r>
              <a:rPr lang="en-US" altLang="ko-KR"/>
              <a:t>1.2&gt;</a:t>
            </a:r>
            <a:r>
              <a:rPr lang="ko-KR" altLang="en-US"/>
              <a:t>의 학생정보 파일에서</a:t>
            </a:r>
          </a:p>
          <a:p>
            <a:pPr lvl="4" eaLnBrk="1" hangingPunct="1"/>
            <a:r>
              <a:rPr lang="ko-KR" altLang="en-US"/>
              <a:t>나이</a:t>
            </a:r>
            <a:r>
              <a:rPr lang="en-US" altLang="ko-KR"/>
              <a:t>(AGE) </a:t>
            </a:r>
            <a:r>
              <a:rPr lang="ko-KR" altLang="en-US"/>
              <a:t>필드는 숫자 형식이어야 하고 음수가 아닌 양수이어야 함</a:t>
            </a:r>
          </a:p>
          <a:p>
            <a:pPr lvl="4" eaLnBrk="1" hangingPunct="1"/>
            <a:r>
              <a:rPr lang="ko-KR" altLang="en-US"/>
              <a:t>나이의 범위는 </a:t>
            </a:r>
            <a:r>
              <a:rPr lang="en-US" altLang="ko-KR"/>
              <a:t>20~60 </a:t>
            </a:r>
            <a:r>
              <a:rPr lang="ko-KR" altLang="en-US"/>
              <a:t>사이</a:t>
            </a:r>
          </a:p>
          <a:p>
            <a:pPr lvl="3" eaLnBrk="1" hangingPunct="1"/>
            <a:r>
              <a:rPr lang="ko-KR" altLang="en-US"/>
              <a:t>과거의 정보시스템에서는 데이터 무결성을 지켜야 할 책임이 프로그래머에게 있음</a:t>
            </a:r>
          </a:p>
          <a:p>
            <a:pPr lvl="3" eaLnBrk="1" hangingPunct="1"/>
            <a:r>
              <a:rPr lang="ko-KR" altLang="en-US"/>
              <a:t>정보화 사회에서는 인간의 삶이 많은 부분 컴퓨터 시스템에 저장된 데이터에 의존하고 있기 때문에 데이터 무결성의 침해는 매우 심각한 문제</a:t>
            </a:r>
          </a:p>
          <a:p>
            <a:pPr lvl="3" eaLnBrk="1" hangingPunct="1"/>
            <a:endParaRPr lang="en-US" alt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F76DF68E-1B15-4F3B-8897-A874F5DF4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749C95C-0CEC-4206-A74F-9212EB2B6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중복성</a:t>
            </a:r>
            <a:r>
              <a:rPr lang="en-US" altLang="ko-KR">
                <a:solidFill>
                  <a:srgbClr val="000099"/>
                </a:solidFill>
              </a:rPr>
              <a:t>(data redundancy)</a:t>
            </a:r>
          </a:p>
          <a:p>
            <a:pPr lvl="3" eaLnBrk="1" hangingPunct="1"/>
            <a:r>
              <a:rPr lang="ko-KR" altLang="en-US"/>
              <a:t>같은 내용의 데이터가 여러 곳에 중복하여 저장되는 것을 의미</a:t>
            </a:r>
          </a:p>
          <a:p>
            <a:pPr lvl="3" eaLnBrk="1" hangingPunct="1"/>
            <a:r>
              <a:rPr lang="ko-KR" altLang="en-US"/>
              <a:t>과거의 정보시스템에서는 개별 부서나 응용 프로그램에서 필요로 하는 데이터 파일을 각각 만들어 사용하는 일이 많았음</a:t>
            </a:r>
          </a:p>
          <a:p>
            <a:pPr lvl="3" eaLnBrk="1" hangingPunct="1"/>
            <a:r>
              <a:rPr lang="ko-KR" altLang="en-US"/>
              <a:t>저장 공간의 낭비 문제 발생</a:t>
            </a:r>
          </a:p>
          <a:p>
            <a:pPr lvl="3" eaLnBrk="1" hangingPunct="1"/>
            <a:r>
              <a:rPr lang="ko-KR" altLang="en-US"/>
              <a:t>데이터의 불일치</a:t>
            </a:r>
            <a:r>
              <a:rPr lang="en-US" altLang="ko-KR"/>
              <a:t>, </a:t>
            </a:r>
            <a:r>
              <a:rPr lang="ko-KR" altLang="en-US"/>
              <a:t>보안의 어려움과 같은 문제들이 발생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1D91396C-0724-4FF1-AF8B-8D787DD22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1AE2CBBE-2D96-40EB-81B7-DBE9CA6EB5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불일치</a:t>
            </a:r>
            <a:r>
              <a:rPr lang="en-US" altLang="ko-KR">
                <a:solidFill>
                  <a:srgbClr val="000099"/>
                </a:solidFill>
              </a:rPr>
              <a:t>(data inconsistency)</a:t>
            </a:r>
          </a:p>
          <a:p>
            <a:pPr lvl="3" eaLnBrk="1" hangingPunct="1"/>
            <a:r>
              <a:rPr lang="ko-KR" altLang="en-US"/>
              <a:t>중복 저장된 데이터들이 서로 일치하지 않는 것을 의미</a:t>
            </a:r>
          </a:p>
          <a:p>
            <a:pPr lvl="3" eaLnBrk="1" hangingPunct="1"/>
            <a:r>
              <a:rPr lang="ko-KR" altLang="en-US"/>
              <a:t>예</a:t>
            </a:r>
            <a:r>
              <a:rPr lang="en-US" altLang="ko-KR"/>
              <a:t>1)  </a:t>
            </a:r>
            <a:r>
              <a:rPr lang="ko-KR" altLang="en-US"/>
              <a:t>우리가 이사를 하게 되면 변경된 주소를 학교나 직장</a:t>
            </a:r>
            <a:r>
              <a:rPr lang="en-US" altLang="ko-KR"/>
              <a:t>, </a:t>
            </a:r>
            <a:r>
              <a:rPr lang="ko-KR" altLang="en-US"/>
              <a:t>은행</a:t>
            </a:r>
            <a:r>
              <a:rPr lang="en-US" altLang="ko-KR"/>
              <a:t>, </a:t>
            </a:r>
            <a:r>
              <a:rPr lang="ko-KR" altLang="en-US"/>
              <a:t>가입된 웹사이트 등에 통보를 해야함</a:t>
            </a:r>
          </a:p>
          <a:p>
            <a:pPr lvl="3" eaLnBrk="1" hangingPunct="1"/>
            <a:r>
              <a:rPr lang="ko-KR" altLang="en-US"/>
              <a:t> 주소 정보가 여러 기관에 중복 저장되어 있다는데서 기인</a:t>
            </a:r>
          </a:p>
          <a:p>
            <a:pPr lvl="3" eaLnBrk="1" hangingPunct="1"/>
            <a:endParaRPr lang="ko-KR" altLang="en-US"/>
          </a:p>
          <a:p>
            <a:pPr lvl="3" eaLnBrk="1" hangingPunct="1"/>
            <a:r>
              <a:rPr lang="ko-KR" altLang="en-US"/>
              <a:t>예</a:t>
            </a:r>
            <a:r>
              <a:rPr lang="en-US" altLang="ko-KR"/>
              <a:t>2) </a:t>
            </a:r>
            <a:r>
              <a:rPr lang="ko-KR" altLang="en-US"/>
              <a:t>어떤 학생이 교무과에 휴학신청을 하여 휴학을 했는데</a:t>
            </a:r>
            <a:r>
              <a:rPr lang="en-US" altLang="ko-KR"/>
              <a:t>, </a:t>
            </a:r>
            <a:r>
              <a:rPr lang="ko-KR" altLang="en-US"/>
              <a:t>그 사실을 모르는 재무과에서는 등록금 고지서를 그 학생에게 발송</a:t>
            </a:r>
          </a:p>
          <a:p>
            <a:pPr lvl="3" eaLnBrk="1" hangingPunct="1"/>
            <a:r>
              <a:rPr lang="ko-KR" altLang="en-US"/>
              <a:t>  교무과의 학생 정보와 재무과의 학생 정보가 각각 관리되면서 불일치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162EE33B-4F97-4E80-A1DC-1E9EF1376E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/>
              <a:t>1.1 </a:t>
            </a:r>
            <a:r>
              <a:rPr lang="ko-KR" altLang="en-US"/>
              <a:t>데이터베이스의 역사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DC5E0C0-B3C4-4694-AB3C-E3EB828A8E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파일 시스템의 위기</a:t>
            </a:r>
          </a:p>
          <a:p>
            <a:pPr lvl="2" eaLnBrk="1" hangingPunct="1"/>
            <a:r>
              <a:rPr lang="ko-KR" altLang="en-US">
                <a:solidFill>
                  <a:srgbClr val="000099"/>
                </a:solidFill>
              </a:rPr>
              <a:t>데이터 표준화</a:t>
            </a:r>
            <a:r>
              <a:rPr lang="en-US" altLang="ko-KR">
                <a:solidFill>
                  <a:srgbClr val="000099"/>
                </a:solidFill>
              </a:rPr>
              <a:t>(data standard)</a:t>
            </a:r>
            <a:r>
              <a:rPr lang="ko-KR" altLang="en-US">
                <a:solidFill>
                  <a:srgbClr val="000099"/>
                </a:solidFill>
              </a:rPr>
              <a:t>의 어려움</a:t>
            </a:r>
          </a:p>
          <a:p>
            <a:pPr lvl="3" eaLnBrk="1" hangingPunct="1"/>
            <a:r>
              <a:rPr lang="ko-KR" altLang="en-US"/>
              <a:t>일정 규모 이상의 정보 시스템을 개발하기 위해서는 많은 수의 개발자들이 협력 작업 필요</a:t>
            </a:r>
          </a:p>
          <a:p>
            <a:pPr lvl="4" eaLnBrk="1" hangingPunct="1"/>
            <a:r>
              <a:rPr lang="ko-KR" altLang="en-US"/>
              <a:t>개발자</a:t>
            </a:r>
            <a:r>
              <a:rPr lang="en-US" altLang="ko-KR"/>
              <a:t>A</a:t>
            </a:r>
            <a:r>
              <a:rPr lang="ko-KR" altLang="en-US"/>
              <a:t>는 응용 프로그램에서 학생이름을 </a:t>
            </a:r>
            <a:r>
              <a:rPr lang="en-US" altLang="ko-KR"/>
              <a:t>'S-NAME' </a:t>
            </a:r>
            <a:r>
              <a:rPr lang="ko-KR" altLang="en-US"/>
              <a:t>으로</a:t>
            </a:r>
            <a:r>
              <a:rPr lang="en-US" altLang="ko-KR"/>
              <a:t>, </a:t>
            </a:r>
            <a:r>
              <a:rPr lang="ko-KR" altLang="en-US"/>
              <a:t>길이는 </a:t>
            </a:r>
            <a:r>
              <a:rPr lang="en-US" altLang="ko-KR"/>
              <a:t>20</a:t>
            </a:r>
            <a:r>
              <a:rPr lang="ko-KR" altLang="en-US"/>
              <a:t>자리로 사용</a:t>
            </a:r>
          </a:p>
          <a:p>
            <a:pPr lvl="4" eaLnBrk="1" hangingPunct="1"/>
            <a:r>
              <a:rPr lang="ko-KR" altLang="en-US"/>
              <a:t>개발자</a:t>
            </a:r>
            <a:r>
              <a:rPr lang="en-US" altLang="ko-KR"/>
              <a:t>B</a:t>
            </a:r>
            <a:r>
              <a:rPr lang="ko-KR" altLang="en-US"/>
              <a:t>는 학생이름을 </a:t>
            </a:r>
            <a:r>
              <a:rPr lang="en-US" altLang="ko-KR"/>
              <a:t>'SNME' </a:t>
            </a:r>
            <a:r>
              <a:rPr lang="ko-KR" altLang="en-US"/>
              <a:t>으로</a:t>
            </a:r>
            <a:r>
              <a:rPr lang="en-US" altLang="ko-KR"/>
              <a:t>, </a:t>
            </a:r>
            <a:r>
              <a:rPr lang="ko-KR" altLang="en-US"/>
              <a:t>길이는 </a:t>
            </a:r>
            <a:r>
              <a:rPr lang="en-US" altLang="ko-KR"/>
              <a:t>15 </a:t>
            </a:r>
            <a:r>
              <a:rPr lang="ko-KR" altLang="en-US"/>
              <a:t>자리로 사용</a:t>
            </a:r>
          </a:p>
          <a:p>
            <a:pPr lvl="3" eaLnBrk="1" hangingPunct="1"/>
            <a:r>
              <a:rPr lang="ko-KR" altLang="en-US"/>
              <a:t>표준화가 되어 있지않으면 제 </a:t>
            </a:r>
            <a:r>
              <a:rPr lang="en-US" altLang="ko-KR"/>
              <a:t>3</a:t>
            </a:r>
            <a:r>
              <a:rPr lang="ko-KR" altLang="en-US"/>
              <a:t>자가 프로그램을 이해하기도 어렵고 두 응용 프로그램간의 호환성에도 문제</a:t>
            </a:r>
          </a:p>
          <a:p>
            <a:pPr lvl="3" eaLnBrk="1" hangingPunct="1"/>
            <a:r>
              <a:rPr lang="ko-KR" altLang="en-US"/>
              <a:t>학생 이름을 지칭하고 표현하는 표준화된 규칙이 있다 하더라도 응용 프로그래머가 이를 지키지 않을 수 있음</a:t>
            </a:r>
          </a:p>
          <a:p>
            <a:pPr lvl="2" eaLnBrk="1" hangingPunct="1"/>
            <a:endParaRPr lang="ko-KR" altLang="en-US">
              <a:solidFill>
                <a:srgbClr val="000099"/>
              </a:solidFill>
            </a:endParaRPr>
          </a:p>
          <a:p>
            <a:pPr lvl="2" eaLnBrk="1" hangingPunct="1"/>
            <a:endParaRPr lang="en-US" altLang="ko-KR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811</Words>
  <Application>Microsoft Office PowerPoint</Application>
  <PresentationFormat>화면 슬라이드 쇼(4:3)</PresentationFormat>
  <Paragraphs>141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굴림</vt:lpstr>
      <vt:lpstr>돋움</vt:lpstr>
      <vt:lpstr>Arial</vt:lpstr>
      <vt:lpstr>Symbol</vt:lpstr>
      <vt:lpstr>Times New Roman</vt:lpstr>
      <vt:lpstr>Wingdings</vt:lpstr>
      <vt:lpstr>기본 디자인</vt:lpstr>
      <vt:lpstr>1장. 관계형 데이터베이스의  주요 개념</vt:lpstr>
      <vt:lpstr>PowerPoint 프레젠테이션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  <vt:lpstr>1.1 데이터베이스의 역사</vt:lpstr>
    </vt:vector>
  </TitlesOfParts>
  <Company>Dankook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1장. 정보환경</dc:title>
  <dc:creator>SEJONG</dc:creator>
  <cp:lastModifiedBy>user</cp:lastModifiedBy>
  <cp:revision>160</cp:revision>
  <dcterms:created xsi:type="dcterms:W3CDTF">2003-08-27T03:33:37Z</dcterms:created>
  <dcterms:modified xsi:type="dcterms:W3CDTF">2025-11-28T04:29:58Z</dcterms:modified>
</cp:coreProperties>
</file>